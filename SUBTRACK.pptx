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aret" panose="020B0604020202020204" charset="0"/>
      <p:regular r:id="rId20"/>
    </p:embeddedFont>
    <p:embeddedFont>
      <p:font typeface="Garet Bold" panose="020B0604020202020204" charset="0"/>
      <p:regular r:id="rId21"/>
    </p:embeddedFont>
    <p:embeddedFont>
      <p:font typeface="Poppi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7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r="-2479" b="-184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04823" y="-898106"/>
            <a:ext cx="4404437" cy="5655778"/>
          </a:xfrm>
          <a:custGeom>
            <a:avLst/>
            <a:gdLst/>
            <a:ahLst/>
            <a:cxnLst/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98318" y="9036632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51518" y="9036632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384997">
            <a:off x="-594215" y="-1991275"/>
            <a:ext cx="4404437" cy="5655778"/>
          </a:xfrm>
          <a:custGeom>
            <a:avLst/>
            <a:gdLst/>
            <a:ahLst/>
            <a:cxnLst/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797062" y="708796"/>
            <a:ext cx="2441975" cy="24419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5D5C5C">
                    <a:alpha val="100000"/>
                  </a:srgbClr>
                </a:gs>
                <a:gs pos="66667">
                  <a:srgbClr val="000000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60933" y="1172666"/>
            <a:ext cx="1514234" cy="151423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142613" y="3188938"/>
            <a:ext cx="12002775" cy="243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0"/>
              </a:lnSpc>
              <a:spcBef>
                <a:spcPct val="0"/>
              </a:spcBef>
            </a:pPr>
            <a:r>
              <a:rPr lang="en-US" sz="14214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SUBTRACK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93898" y="5373864"/>
            <a:ext cx="6648304" cy="44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sz="2662" spc="213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6459" y="9210675"/>
            <a:ext cx="1131703" cy="38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83524" y="445880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0511" y="1129420"/>
            <a:ext cx="8114474" cy="132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33676" y="3265488"/>
            <a:ext cx="12459652" cy="4462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In today’s fast-paced world, juggling multiple subscriptions and keeping track of utility bills can quickly become overwhelming. SubTrack is a unified desktop application that streamlines the entire lifecycle—from adding and monitoring subscriptions to automating renewals and logging bill payments—in one intuitive interface. By combining real-time dashboards, configurable alerts, and seamless data management, SubTrack empowers users to stay on top of recurring charges, avoid missed payments, and gain clear insights into their spending habits.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672238" y="469233"/>
            <a:ext cx="6943524" cy="1175252"/>
            <a:chOff x="0" y="0"/>
            <a:chExt cx="9258033" cy="1567002"/>
          </a:xfrm>
        </p:grpSpPr>
        <p:sp>
          <p:nvSpPr>
            <p:cNvPr id="7" name="TextBox 7"/>
            <p:cNvSpPr txBox="1"/>
            <p:nvPr/>
          </p:nvSpPr>
          <p:spPr>
            <a:xfrm>
              <a:off x="3077120" y="-152400"/>
              <a:ext cx="6180913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F6E0F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Features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52400"/>
              <a:ext cx="3077120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A280E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Key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96365" y="2062512"/>
            <a:ext cx="13295270" cy="7195788"/>
            <a:chOff x="0" y="0"/>
            <a:chExt cx="17727026" cy="95943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97192" cy="4797192"/>
            </a:xfrm>
            <a:custGeom>
              <a:avLst/>
              <a:gdLst/>
              <a:ahLst/>
              <a:cxnLst/>
              <a:rect l="l" t="t" r="r" b="b"/>
              <a:pathLst>
                <a:path w="4797192" h="4797192">
                  <a:moveTo>
                    <a:pt x="0" y="0"/>
                  </a:moveTo>
                  <a:lnTo>
                    <a:pt x="4797192" y="0"/>
                  </a:lnTo>
                  <a:lnTo>
                    <a:pt x="4797192" y="4797192"/>
                  </a:lnTo>
                  <a:lnTo>
                    <a:pt x="0" y="4797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419959"/>
              <a:ext cx="4991409" cy="1869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55"/>
                </a:lnSpc>
              </a:pPr>
              <a:r>
                <a:rPr lang="en-US" sz="2888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Comprehensive Subscription Management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070933" y="4797192"/>
              <a:ext cx="4797192" cy="4797192"/>
            </a:xfrm>
            <a:custGeom>
              <a:avLst/>
              <a:gdLst/>
              <a:ahLst/>
              <a:cxnLst/>
              <a:rect l="l" t="t" r="r" b="b"/>
              <a:pathLst>
                <a:path w="4797192" h="4797192">
                  <a:moveTo>
                    <a:pt x="0" y="0"/>
                  </a:moveTo>
                  <a:lnTo>
                    <a:pt x="4797192" y="0"/>
                  </a:lnTo>
                  <a:lnTo>
                    <a:pt x="4797192" y="4797192"/>
                  </a:lnTo>
                  <a:lnTo>
                    <a:pt x="0" y="4797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3003023" y="6226676"/>
              <a:ext cx="5127229" cy="1909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7"/>
                </a:lnSpc>
              </a:pPr>
              <a:r>
                <a:rPr lang="en-US" sz="2967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Dynamic Dashboard &amp; Insights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2575287" y="0"/>
              <a:ext cx="4797192" cy="4797192"/>
            </a:xfrm>
            <a:custGeom>
              <a:avLst/>
              <a:gdLst/>
              <a:ahLst/>
              <a:cxnLst/>
              <a:rect l="l" t="t" r="r" b="b"/>
              <a:pathLst>
                <a:path w="4797192" h="4797192">
                  <a:moveTo>
                    <a:pt x="0" y="0"/>
                  </a:moveTo>
                  <a:lnTo>
                    <a:pt x="4797193" y="0"/>
                  </a:lnTo>
                  <a:lnTo>
                    <a:pt x="4797193" y="4797192"/>
                  </a:lnTo>
                  <a:lnTo>
                    <a:pt x="0" y="4797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2599798" y="1107597"/>
              <a:ext cx="5127229" cy="2553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57"/>
                </a:lnSpc>
              </a:pPr>
              <a:r>
                <a:rPr lang="en-US" sz="2967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Powerful </a:t>
              </a:r>
            </a:p>
            <a:p>
              <a:pPr algn="ctr">
                <a:lnSpc>
                  <a:spcPts val="3857"/>
                </a:lnSpc>
              </a:pPr>
              <a:r>
                <a:rPr lang="en-US" sz="2967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Filtering </a:t>
              </a:r>
            </a:p>
            <a:p>
              <a:pPr algn="ctr">
                <a:lnSpc>
                  <a:spcPts val="3857"/>
                </a:lnSpc>
              </a:pPr>
              <a:r>
                <a:rPr lang="en-US" sz="2967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&amp; </a:t>
              </a:r>
            </a:p>
            <a:p>
              <a:pPr algn="ctr">
                <a:lnSpc>
                  <a:spcPts val="3857"/>
                </a:lnSpc>
              </a:pPr>
              <a:r>
                <a:rPr lang="en-US" sz="2967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Search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410569" y="4731998"/>
              <a:ext cx="4797192" cy="4797192"/>
            </a:xfrm>
            <a:custGeom>
              <a:avLst/>
              <a:gdLst/>
              <a:ahLst/>
              <a:cxnLst/>
              <a:rect l="l" t="t" r="r" b="b"/>
              <a:pathLst>
                <a:path w="4797192" h="4797192">
                  <a:moveTo>
                    <a:pt x="0" y="0"/>
                  </a:moveTo>
                  <a:lnTo>
                    <a:pt x="4797192" y="0"/>
                  </a:lnTo>
                  <a:lnTo>
                    <a:pt x="4797192" y="4797192"/>
                  </a:lnTo>
                  <a:lnTo>
                    <a:pt x="0" y="4797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9410569" y="6028214"/>
              <a:ext cx="5206712" cy="19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7"/>
                </a:lnSpc>
              </a:pPr>
              <a:r>
                <a:rPr lang="en-US" sz="3013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Utility Bill </a:t>
              </a:r>
            </a:p>
            <a:p>
              <a:pPr algn="ctr">
                <a:lnSpc>
                  <a:spcPts val="3917"/>
                </a:lnSpc>
              </a:pPr>
              <a:r>
                <a:rPr lang="en-US" sz="3013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Payment </a:t>
              </a:r>
            </a:p>
            <a:p>
              <a:pPr algn="ctr">
                <a:lnSpc>
                  <a:spcPts val="3917"/>
                </a:lnSpc>
              </a:pPr>
              <a:r>
                <a:rPr lang="en-US" sz="3013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Tracking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286809" y="0"/>
              <a:ext cx="4797192" cy="4797192"/>
            </a:xfrm>
            <a:custGeom>
              <a:avLst/>
              <a:gdLst/>
              <a:ahLst/>
              <a:cxnLst/>
              <a:rect l="l" t="t" r="r" b="b"/>
              <a:pathLst>
                <a:path w="4797192" h="4797192">
                  <a:moveTo>
                    <a:pt x="0" y="0"/>
                  </a:moveTo>
                  <a:lnTo>
                    <a:pt x="4797192" y="0"/>
                  </a:lnTo>
                  <a:lnTo>
                    <a:pt x="4797192" y="4797192"/>
                  </a:lnTo>
                  <a:lnTo>
                    <a:pt x="0" y="4797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6310454" y="1452545"/>
              <a:ext cx="4949592" cy="1854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24"/>
                </a:lnSpc>
              </a:pPr>
              <a:r>
                <a:rPr lang="en-US" sz="2864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Flexible </a:t>
              </a:r>
            </a:p>
            <a:p>
              <a:pPr algn="ctr">
                <a:lnSpc>
                  <a:spcPts val="3724"/>
                </a:lnSpc>
              </a:pPr>
              <a:r>
                <a:rPr lang="en-US" sz="2864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Renewal </a:t>
              </a:r>
            </a:p>
            <a:p>
              <a:pPr algn="ctr">
                <a:lnSpc>
                  <a:spcPts val="3724"/>
                </a:lnSpc>
              </a:pPr>
              <a:r>
                <a:rPr lang="en-US" sz="2864">
                  <a:solidFill>
                    <a:srgbClr val="C9BBE8"/>
                  </a:solidFill>
                  <a:latin typeface="Garet"/>
                  <a:ea typeface="Garet"/>
                  <a:cs typeface="Garet"/>
                  <a:sym typeface="Garet"/>
                </a:rPr>
                <a:t>Workflows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761076" y="558249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69550" y="2567376"/>
            <a:ext cx="13638474" cy="596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8"/>
              </a:lnSpc>
              <a:spcBef>
                <a:spcPct val="0"/>
              </a:spcBef>
            </a:pPr>
            <a:r>
              <a:rPr lang="en-US" sz="37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Java      : For modern language features.</a:t>
            </a:r>
          </a:p>
          <a:p>
            <a:pPr algn="l">
              <a:lnSpc>
                <a:spcPts val="5288"/>
              </a:lnSpc>
              <a:spcBef>
                <a:spcPct val="0"/>
              </a:spcBef>
            </a:pPr>
            <a:endParaRPr lang="en-US" sz="377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5288"/>
              </a:lnSpc>
              <a:spcBef>
                <a:spcPct val="0"/>
              </a:spcBef>
            </a:pPr>
            <a:r>
              <a:rPr lang="en-US" sz="37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Swing   : Provides full control over look &amp; feel</a:t>
            </a:r>
          </a:p>
          <a:p>
            <a:pPr algn="l">
              <a:lnSpc>
                <a:spcPts val="5288"/>
              </a:lnSpc>
              <a:spcBef>
                <a:spcPct val="0"/>
              </a:spcBef>
            </a:pPr>
            <a:endParaRPr lang="en-US" sz="377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5288"/>
              </a:lnSpc>
              <a:spcBef>
                <a:spcPct val="0"/>
              </a:spcBef>
            </a:pPr>
            <a:r>
              <a:rPr lang="en-US" sz="37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MySQL  : Transactional safety &amp; data integrity</a:t>
            </a:r>
          </a:p>
          <a:p>
            <a:pPr algn="l">
              <a:lnSpc>
                <a:spcPts val="5288"/>
              </a:lnSpc>
              <a:spcBef>
                <a:spcPct val="0"/>
              </a:spcBef>
            </a:pPr>
            <a:endParaRPr lang="en-US" sz="377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5288"/>
              </a:lnSpc>
              <a:spcBef>
                <a:spcPct val="0"/>
              </a:spcBef>
            </a:pPr>
            <a:r>
              <a:rPr lang="en-US" sz="37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JDBC     : database connectivity used by DAO layer</a:t>
            </a:r>
          </a:p>
          <a:p>
            <a:pPr algn="l">
              <a:lnSpc>
                <a:spcPts val="5288"/>
              </a:lnSpc>
              <a:spcBef>
                <a:spcPct val="0"/>
              </a:spcBef>
            </a:pPr>
            <a:endParaRPr lang="en-US" sz="377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5288"/>
              </a:lnSpc>
              <a:spcBef>
                <a:spcPct val="0"/>
              </a:spcBef>
            </a:pPr>
            <a:r>
              <a:rPr lang="en-US" sz="37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Maven  : For build &amp; dependency management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20791" y="1056859"/>
            <a:ext cx="9246417" cy="1175252"/>
            <a:chOff x="0" y="0"/>
            <a:chExt cx="12328557" cy="1567002"/>
          </a:xfrm>
        </p:grpSpPr>
        <p:sp>
          <p:nvSpPr>
            <p:cNvPr id="8" name="TextBox 8"/>
            <p:cNvSpPr txBox="1"/>
            <p:nvPr/>
          </p:nvSpPr>
          <p:spPr>
            <a:xfrm>
              <a:off x="3934199" y="-152400"/>
              <a:ext cx="8394358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F6E0F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Stack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8394358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A280E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Tech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93520" y="-432037"/>
            <a:ext cx="3291840" cy="4114800"/>
          </a:xfrm>
          <a:custGeom>
            <a:avLst/>
            <a:gdLst/>
            <a:ahLst/>
            <a:cxnLst/>
            <a:rect l="l" t="t" r="r" b="b"/>
            <a:pathLst>
              <a:path w="3291840" h="411480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00511" y="595245"/>
            <a:ext cx="8491950" cy="2060235"/>
            <a:chOff x="0" y="0"/>
            <a:chExt cx="11322599" cy="2746980"/>
          </a:xfrm>
        </p:grpSpPr>
        <p:sp>
          <p:nvSpPr>
            <p:cNvPr id="8" name="Freeform 8"/>
            <p:cNvSpPr/>
            <p:nvPr/>
          </p:nvSpPr>
          <p:spPr>
            <a:xfrm>
              <a:off x="0" y="687447"/>
              <a:ext cx="1536700" cy="1536700"/>
            </a:xfrm>
            <a:custGeom>
              <a:avLst/>
              <a:gdLst/>
              <a:ahLst/>
              <a:cxnLst/>
              <a:rect l="l" t="t" r="r" b="b"/>
              <a:pathLst>
                <a:path w="1536700" h="1536700">
                  <a:moveTo>
                    <a:pt x="0" y="0"/>
                  </a:moveTo>
                  <a:lnTo>
                    <a:pt x="1536700" y="0"/>
                  </a:lnTo>
                  <a:lnTo>
                    <a:pt x="1536700" y="1536700"/>
                  </a:lnTo>
                  <a:lnTo>
                    <a:pt x="0" y="153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937642" y="1027578"/>
              <a:ext cx="9384958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F6E0F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Architecture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37642" y="-152400"/>
              <a:ext cx="8394358" cy="1719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22"/>
                </a:lnSpc>
                <a:spcBef>
                  <a:spcPct val="0"/>
                </a:spcBef>
              </a:pPr>
              <a:r>
                <a:rPr lang="en-US" sz="7730" b="1">
                  <a:solidFill>
                    <a:srgbClr val="A280E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System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9900" y="4273440"/>
            <a:ext cx="4748201" cy="1118091"/>
            <a:chOff x="0" y="0"/>
            <a:chExt cx="6330934" cy="149078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177075" cy="1490788"/>
              <a:chOff x="0" y="0"/>
              <a:chExt cx="1811659" cy="43722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811659" cy="437230"/>
              </a:xfrm>
              <a:custGeom>
                <a:avLst/>
                <a:gdLst/>
                <a:ahLst/>
                <a:cxnLst/>
                <a:rect l="l" t="t" r="r" b="b"/>
                <a:pathLst>
                  <a:path w="1811659" h="437230">
                    <a:moveTo>
                      <a:pt x="1608459" y="0"/>
                    </a:moveTo>
                    <a:cubicBezTo>
                      <a:pt x="1720683" y="0"/>
                      <a:pt x="1811659" y="97877"/>
                      <a:pt x="1811659" y="218615"/>
                    </a:cubicBezTo>
                    <a:cubicBezTo>
                      <a:pt x="1811659" y="339352"/>
                      <a:pt x="1720683" y="437230"/>
                      <a:pt x="1608459" y="437230"/>
                    </a:cubicBezTo>
                    <a:lnTo>
                      <a:pt x="203200" y="437230"/>
                    </a:lnTo>
                    <a:cubicBezTo>
                      <a:pt x="90976" y="437230"/>
                      <a:pt x="0" y="339352"/>
                      <a:pt x="0" y="218615"/>
                    </a:cubicBezTo>
                    <a:cubicBezTo>
                      <a:pt x="0" y="9787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47625"/>
                <a:ext cx="1811659" cy="3896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5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3977" y="173910"/>
              <a:ext cx="6286957" cy="110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9"/>
                </a:lnSpc>
                <a:spcBef>
                  <a:spcPct val="0"/>
                </a:spcBef>
              </a:pPr>
              <a:r>
                <a:rPr lang="en-US" sz="2435">
                  <a:solidFill>
                    <a:srgbClr val="F6E0F5"/>
                  </a:solidFill>
                  <a:latin typeface="Garet"/>
                  <a:ea typeface="Garet"/>
                  <a:cs typeface="Garet"/>
                  <a:sym typeface="Garet"/>
                </a:rPr>
                <a:t>PRESENTATION LAYER (SWING UI)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909319" y="3208687"/>
            <a:ext cx="4466424" cy="463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9"/>
              </a:lnSpc>
              <a:spcBef>
                <a:spcPct val="0"/>
              </a:spcBef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Three-Tier Architecture :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769900" y="7308081"/>
            <a:ext cx="4748201" cy="1118091"/>
            <a:chOff x="0" y="0"/>
            <a:chExt cx="6330934" cy="149078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177075" cy="1490788"/>
              <a:chOff x="0" y="0"/>
              <a:chExt cx="1811659" cy="43722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811659" cy="437230"/>
              </a:xfrm>
              <a:custGeom>
                <a:avLst/>
                <a:gdLst/>
                <a:ahLst/>
                <a:cxnLst/>
                <a:rect l="l" t="t" r="r" b="b"/>
                <a:pathLst>
                  <a:path w="1811659" h="437230">
                    <a:moveTo>
                      <a:pt x="1608459" y="0"/>
                    </a:moveTo>
                    <a:cubicBezTo>
                      <a:pt x="1720683" y="0"/>
                      <a:pt x="1811659" y="97877"/>
                      <a:pt x="1811659" y="218615"/>
                    </a:cubicBezTo>
                    <a:cubicBezTo>
                      <a:pt x="1811659" y="339352"/>
                      <a:pt x="1720683" y="437230"/>
                      <a:pt x="1608459" y="437230"/>
                    </a:cubicBezTo>
                    <a:lnTo>
                      <a:pt x="203200" y="437230"/>
                    </a:lnTo>
                    <a:cubicBezTo>
                      <a:pt x="90976" y="437230"/>
                      <a:pt x="0" y="339352"/>
                      <a:pt x="0" y="218615"/>
                    </a:cubicBezTo>
                    <a:cubicBezTo>
                      <a:pt x="0" y="9787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47625"/>
                <a:ext cx="1811659" cy="3896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5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3977" y="173910"/>
              <a:ext cx="6286957" cy="110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9"/>
                </a:lnSpc>
              </a:pPr>
              <a:r>
                <a:rPr lang="en-US" sz="2435">
                  <a:solidFill>
                    <a:srgbClr val="F6E0F5"/>
                  </a:solidFill>
                  <a:latin typeface="Garet"/>
                  <a:ea typeface="Garet"/>
                  <a:cs typeface="Garet"/>
                  <a:sym typeface="Garet"/>
                </a:rPr>
                <a:t>DATA ACCESS LAYER </a:t>
              </a:r>
            </a:p>
            <a:p>
              <a:pPr algn="ctr">
                <a:lnSpc>
                  <a:spcPts val="3409"/>
                </a:lnSpc>
                <a:spcBef>
                  <a:spcPct val="0"/>
                </a:spcBef>
              </a:pPr>
              <a:r>
                <a:rPr lang="en-US" sz="2435">
                  <a:solidFill>
                    <a:srgbClr val="F6E0F5"/>
                  </a:solidFill>
                  <a:latin typeface="Garet"/>
                  <a:ea typeface="Garet"/>
                  <a:cs typeface="Garet"/>
                  <a:sym typeface="Garet"/>
                </a:rPr>
                <a:t>(DAO)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69900" y="5789939"/>
            <a:ext cx="4748201" cy="1118091"/>
            <a:chOff x="0" y="0"/>
            <a:chExt cx="6330934" cy="1490788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177075" cy="1490788"/>
              <a:chOff x="0" y="0"/>
              <a:chExt cx="1811659" cy="43722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811659" cy="437230"/>
              </a:xfrm>
              <a:custGeom>
                <a:avLst/>
                <a:gdLst/>
                <a:ahLst/>
                <a:cxnLst/>
                <a:rect l="l" t="t" r="r" b="b"/>
                <a:pathLst>
                  <a:path w="1811659" h="437230">
                    <a:moveTo>
                      <a:pt x="1608459" y="0"/>
                    </a:moveTo>
                    <a:cubicBezTo>
                      <a:pt x="1720683" y="0"/>
                      <a:pt x="1811659" y="97877"/>
                      <a:pt x="1811659" y="218615"/>
                    </a:cubicBezTo>
                    <a:cubicBezTo>
                      <a:pt x="1811659" y="339352"/>
                      <a:pt x="1720683" y="437230"/>
                      <a:pt x="1608459" y="437230"/>
                    </a:cubicBezTo>
                    <a:lnTo>
                      <a:pt x="203200" y="437230"/>
                    </a:lnTo>
                    <a:cubicBezTo>
                      <a:pt x="90976" y="437230"/>
                      <a:pt x="0" y="339352"/>
                      <a:pt x="0" y="218615"/>
                    </a:cubicBezTo>
                    <a:cubicBezTo>
                      <a:pt x="0" y="9787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47625"/>
                <a:ext cx="1811659" cy="3896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5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3977" y="173910"/>
              <a:ext cx="6286957" cy="110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9"/>
                </a:lnSpc>
              </a:pPr>
              <a:r>
                <a:rPr lang="en-US" sz="2435">
                  <a:solidFill>
                    <a:srgbClr val="F6E0F5"/>
                  </a:solidFill>
                  <a:latin typeface="Garet"/>
                  <a:ea typeface="Garet"/>
                  <a:cs typeface="Garet"/>
                  <a:sym typeface="Garet"/>
                </a:rPr>
                <a:t>SERVICE LAYER </a:t>
              </a:r>
            </a:p>
            <a:p>
              <a:pPr algn="ctr">
                <a:lnSpc>
                  <a:spcPts val="3409"/>
                </a:lnSpc>
                <a:spcBef>
                  <a:spcPct val="0"/>
                </a:spcBef>
              </a:pPr>
              <a:r>
                <a:rPr lang="en-US" sz="2435">
                  <a:solidFill>
                    <a:srgbClr val="F6E0F5"/>
                  </a:solidFill>
                  <a:latin typeface="Garet"/>
                  <a:ea typeface="Garet"/>
                  <a:cs typeface="Garet"/>
                  <a:sym typeface="Garet"/>
                </a:rPr>
                <a:t>(OPERATION LOGIC)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638080" y="1157895"/>
            <a:ext cx="3853589" cy="973180"/>
            <a:chOff x="0" y="0"/>
            <a:chExt cx="5138118" cy="129757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138118" cy="1297573"/>
              <a:chOff x="0" y="0"/>
              <a:chExt cx="1609259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092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9259" h="406400">
                    <a:moveTo>
                      <a:pt x="1406059" y="0"/>
                    </a:moveTo>
                    <a:cubicBezTo>
                      <a:pt x="1518283" y="0"/>
                      <a:pt x="1609259" y="90976"/>
                      <a:pt x="1609259" y="203200"/>
                    </a:cubicBezTo>
                    <a:cubicBezTo>
                      <a:pt x="1609259" y="315424"/>
                      <a:pt x="1518283" y="406400"/>
                      <a:pt x="140605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47625"/>
                <a:ext cx="16092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50720" y="307014"/>
              <a:ext cx="4036679" cy="654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1"/>
                </a:lnSpc>
              </a:pPr>
              <a:r>
                <a:rPr lang="en-US" sz="3131" b="1">
                  <a:solidFill>
                    <a:srgbClr val="C9BBE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UI Panels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07049" y="3306192"/>
            <a:ext cx="6203073" cy="356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94"/>
              </a:lnSpc>
            </a:pPr>
            <a:r>
              <a:rPr lang="en-US" sz="406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Subscription</a:t>
            </a:r>
          </a:p>
          <a:p>
            <a:pPr algn="just">
              <a:lnSpc>
                <a:spcPts val="5694"/>
              </a:lnSpc>
            </a:pPr>
            <a:r>
              <a:rPr lang="en-US" sz="406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Payment</a:t>
            </a:r>
          </a:p>
          <a:p>
            <a:pPr algn="just">
              <a:lnSpc>
                <a:spcPts val="5694"/>
              </a:lnSpc>
            </a:pPr>
            <a:r>
              <a:rPr lang="en-US" sz="406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</a:t>
            </a:r>
          </a:p>
          <a:p>
            <a:pPr algn="just">
              <a:lnSpc>
                <a:spcPts val="5694"/>
              </a:lnSpc>
            </a:pPr>
            <a:r>
              <a:rPr lang="en-US" sz="406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 Payment</a:t>
            </a:r>
          </a:p>
          <a:p>
            <a:pPr algn="just">
              <a:lnSpc>
                <a:spcPts val="5694"/>
              </a:lnSpc>
              <a:spcBef>
                <a:spcPct val="0"/>
              </a:spcBef>
            </a:pPr>
            <a:endParaRPr lang="en-US" sz="406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864309" y="1644485"/>
            <a:ext cx="3694347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10988082" y="1157895"/>
            <a:ext cx="3853589" cy="973180"/>
            <a:chOff x="0" y="0"/>
            <a:chExt cx="5138118" cy="129757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138118" cy="1297573"/>
              <a:chOff x="0" y="0"/>
              <a:chExt cx="1609259" cy="406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6092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9259" h="406400">
                    <a:moveTo>
                      <a:pt x="1406059" y="0"/>
                    </a:moveTo>
                    <a:cubicBezTo>
                      <a:pt x="1518283" y="0"/>
                      <a:pt x="1609259" y="90976"/>
                      <a:pt x="1609259" y="203200"/>
                    </a:cubicBezTo>
                    <a:cubicBezTo>
                      <a:pt x="1609259" y="315424"/>
                      <a:pt x="1518283" y="406400"/>
                      <a:pt x="140605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47625"/>
                <a:ext cx="16092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4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50720" y="307014"/>
              <a:ext cx="4036679" cy="654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1"/>
                </a:lnSpc>
              </a:pPr>
              <a:r>
                <a:rPr lang="en-US" sz="3131" b="1">
                  <a:solidFill>
                    <a:srgbClr val="C9BBE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Models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4290" y="3052243"/>
            <a:ext cx="6427264" cy="407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Subscription Panel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Subscription Payments 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Panel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 Panel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 Payments Panel</a:t>
            </a:r>
          </a:p>
          <a:p>
            <a:pPr algn="just">
              <a:lnSpc>
                <a:spcPts val="5408"/>
              </a:lnSpc>
              <a:spcBef>
                <a:spcPct val="0"/>
              </a:spcBef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Dashboard Panel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89386" y="1028700"/>
            <a:ext cx="3853589" cy="1482750"/>
            <a:chOff x="0" y="0"/>
            <a:chExt cx="5138118" cy="1977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5138118" cy="1977000"/>
              <a:chOff x="0" y="0"/>
              <a:chExt cx="1609259" cy="61919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609259" cy="619196"/>
              </a:xfrm>
              <a:custGeom>
                <a:avLst/>
                <a:gdLst/>
                <a:ahLst/>
                <a:cxnLst/>
                <a:rect l="l" t="t" r="r" b="b"/>
                <a:pathLst>
                  <a:path w="1609259" h="619196">
                    <a:moveTo>
                      <a:pt x="1406059" y="0"/>
                    </a:moveTo>
                    <a:cubicBezTo>
                      <a:pt x="1518283" y="0"/>
                      <a:pt x="1609259" y="138612"/>
                      <a:pt x="1609259" y="309598"/>
                    </a:cubicBezTo>
                    <a:cubicBezTo>
                      <a:pt x="1609259" y="480585"/>
                      <a:pt x="1518283" y="619196"/>
                      <a:pt x="1406059" y="619196"/>
                    </a:cubicBezTo>
                    <a:lnTo>
                      <a:pt x="203200" y="619196"/>
                    </a:lnTo>
                    <a:cubicBezTo>
                      <a:pt x="90976" y="619196"/>
                      <a:pt x="0" y="480585"/>
                      <a:pt x="0" y="309598"/>
                    </a:cubicBezTo>
                    <a:cubicBezTo>
                      <a:pt x="0" y="13861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47625"/>
                <a:ext cx="1609259" cy="5715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4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50720" y="307014"/>
              <a:ext cx="4036679" cy="1334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1"/>
                </a:lnSpc>
              </a:pPr>
              <a:r>
                <a:rPr lang="en-US" sz="3131" b="1">
                  <a:solidFill>
                    <a:srgbClr val="C9BBE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 Access Objects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41422" y="1028700"/>
            <a:ext cx="3853589" cy="1482750"/>
            <a:chOff x="0" y="0"/>
            <a:chExt cx="5138118" cy="1977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138118" cy="1977000"/>
              <a:chOff x="0" y="0"/>
              <a:chExt cx="1609259" cy="61919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609259" cy="619196"/>
              </a:xfrm>
              <a:custGeom>
                <a:avLst/>
                <a:gdLst/>
                <a:ahLst/>
                <a:cxnLst/>
                <a:rect l="l" t="t" r="r" b="b"/>
                <a:pathLst>
                  <a:path w="1609259" h="619196">
                    <a:moveTo>
                      <a:pt x="1406059" y="0"/>
                    </a:moveTo>
                    <a:cubicBezTo>
                      <a:pt x="1518283" y="0"/>
                      <a:pt x="1609259" y="138612"/>
                      <a:pt x="1609259" y="309598"/>
                    </a:cubicBezTo>
                    <a:cubicBezTo>
                      <a:pt x="1609259" y="480585"/>
                      <a:pt x="1518283" y="619196"/>
                      <a:pt x="1406059" y="619196"/>
                    </a:cubicBezTo>
                    <a:lnTo>
                      <a:pt x="203200" y="619196"/>
                    </a:lnTo>
                    <a:cubicBezTo>
                      <a:pt x="90976" y="619196"/>
                      <a:pt x="0" y="480585"/>
                      <a:pt x="0" y="309598"/>
                    </a:cubicBezTo>
                    <a:cubicBezTo>
                      <a:pt x="0" y="13861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92A6DD">
                        <a:alpha val="100000"/>
                      </a:srgbClr>
                    </a:gs>
                    <a:gs pos="100000">
                      <a:srgbClr val="DF96DA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47625"/>
                <a:ext cx="1609259" cy="5715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4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50720" y="307014"/>
              <a:ext cx="4036679" cy="1334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1"/>
                </a:lnSpc>
              </a:pPr>
              <a:r>
                <a:rPr lang="en-US" sz="3131" b="1">
                  <a:solidFill>
                    <a:srgbClr val="C9BBE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Services &amp;Utilities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24869" y="3357043"/>
            <a:ext cx="5233738" cy="339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SubscriptionDAO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BillDAO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BillPaymentDAO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PaymentDAO</a:t>
            </a:r>
          </a:p>
          <a:p>
            <a:pPr algn="just">
              <a:lnSpc>
                <a:spcPts val="5408"/>
              </a:lnSpc>
              <a:spcBef>
                <a:spcPct val="0"/>
              </a:spcBef>
            </a:pPr>
            <a:endParaRPr lang="en-US" sz="3863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569666" y="3246004"/>
            <a:ext cx="6446209" cy="339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–Subscription Renewal 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Service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–Service Renewal </a:t>
            </a:r>
          </a:p>
          <a:p>
            <a:pPr algn="just">
              <a:lnSpc>
                <a:spcPts val="5408"/>
              </a:lnSpc>
            </a:pPr>
            <a:r>
              <a:rPr lang="en-US" sz="386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(Bill reconciliation)</a:t>
            </a:r>
          </a:p>
          <a:p>
            <a:pPr algn="just">
              <a:lnSpc>
                <a:spcPts val="5408"/>
              </a:lnSpc>
              <a:spcBef>
                <a:spcPct val="0"/>
              </a:spcBef>
            </a:pPr>
            <a:endParaRPr lang="en-US" sz="3863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870828" y="1644485"/>
            <a:ext cx="3542739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4796886" y="7586199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29342" y="3370923"/>
            <a:ext cx="12827300" cy="4494561"/>
          </a:xfrm>
          <a:custGeom>
            <a:avLst/>
            <a:gdLst/>
            <a:ahLst/>
            <a:cxnLst/>
            <a:rect l="l" t="t" r="r" b="b"/>
            <a:pathLst>
              <a:path w="12827300" h="4494561">
                <a:moveTo>
                  <a:pt x="0" y="0"/>
                </a:moveTo>
                <a:lnTo>
                  <a:pt x="12827300" y="0"/>
                </a:lnTo>
                <a:lnTo>
                  <a:pt x="12827300" y="4494561"/>
                </a:lnTo>
                <a:lnTo>
                  <a:pt x="0" y="4494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780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89475" y="288674"/>
            <a:ext cx="629576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TABLES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49765"/>
            <a:ext cx="6022238" cy="100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  <a:spcBef>
                <a:spcPct val="0"/>
              </a:spcBef>
            </a:pPr>
            <a:r>
              <a:rPr lang="en-US" sz="5896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subscriptions : 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4796886" y="7586199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21752" y="3315160"/>
            <a:ext cx="13844496" cy="4008396"/>
          </a:xfrm>
          <a:custGeom>
            <a:avLst/>
            <a:gdLst/>
            <a:ahLst/>
            <a:cxnLst/>
            <a:rect l="l" t="t" r="r" b="b"/>
            <a:pathLst>
              <a:path w="13844496" h="4008396">
                <a:moveTo>
                  <a:pt x="0" y="0"/>
                </a:moveTo>
                <a:lnTo>
                  <a:pt x="13844496" y="0"/>
                </a:lnTo>
                <a:lnTo>
                  <a:pt x="13844496" y="4008396"/>
                </a:lnTo>
                <a:lnTo>
                  <a:pt x="0" y="4008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89475" y="288674"/>
            <a:ext cx="629576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TABLES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49765"/>
            <a:ext cx="6022238" cy="100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  <a:spcBef>
                <a:spcPct val="0"/>
              </a:spcBef>
            </a:pPr>
            <a:r>
              <a:rPr lang="en-US" sz="5896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payments :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4796886" y="7586199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93425" y="3244028"/>
            <a:ext cx="12199433" cy="4461080"/>
          </a:xfrm>
          <a:custGeom>
            <a:avLst/>
            <a:gdLst/>
            <a:ahLst/>
            <a:cxnLst/>
            <a:rect l="l" t="t" r="r" b="b"/>
            <a:pathLst>
              <a:path w="12199433" h="4461080">
                <a:moveTo>
                  <a:pt x="0" y="0"/>
                </a:moveTo>
                <a:lnTo>
                  <a:pt x="12199433" y="0"/>
                </a:lnTo>
                <a:lnTo>
                  <a:pt x="12199433" y="4461080"/>
                </a:lnTo>
                <a:lnTo>
                  <a:pt x="0" y="44610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89475" y="288674"/>
            <a:ext cx="629576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TABLES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49765"/>
            <a:ext cx="6022238" cy="100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  <a:spcBef>
                <a:spcPct val="0"/>
              </a:spcBef>
            </a:pPr>
            <a:r>
              <a:rPr lang="en-US" sz="5896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utillity_bills : 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4796886" y="7586199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69855" y="3300827"/>
            <a:ext cx="12915957" cy="4075161"/>
          </a:xfrm>
          <a:custGeom>
            <a:avLst/>
            <a:gdLst/>
            <a:ahLst/>
            <a:cxnLst/>
            <a:rect l="l" t="t" r="r" b="b"/>
            <a:pathLst>
              <a:path w="12915957" h="4075161">
                <a:moveTo>
                  <a:pt x="0" y="0"/>
                </a:moveTo>
                <a:lnTo>
                  <a:pt x="12915958" y="0"/>
                </a:lnTo>
                <a:lnTo>
                  <a:pt x="12915958" y="4075161"/>
                </a:lnTo>
                <a:lnTo>
                  <a:pt x="0" y="4075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89475" y="288674"/>
            <a:ext cx="629576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TABLES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49765"/>
            <a:ext cx="8617683" cy="100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  <a:spcBef>
                <a:spcPct val="0"/>
              </a:spcBef>
            </a:pPr>
            <a:r>
              <a:rPr lang="en-US" sz="5896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utillity_bill_payments: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8862" y="5143500"/>
            <a:ext cx="4734156" cy="3535291"/>
          </a:xfrm>
          <a:custGeom>
            <a:avLst/>
            <a:gdLst/>
            <a:ahLst/>
            <a:cxnLst/>
            <a:rect l="l" t="t" r="r" b="b"/>
            <a:pathLst>
              <a:path w="4734156" h="3535291">
                <a:moveTo>
                  <a:pt x="0" y="0"/>
                </a:moveTo>
                <a:lnTo>
                  <a:pt x="4734157" y="0"/>
                </a:lnTo>
                <a:lnTo>
                  <a:pt x="4734157" y="3535291"/>
                </a:lnTo>
                <a:lnTo>
                  <a:pt x="0" y="353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0376" y="3448422"/>
            <a:ext cx="7580571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Prospects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0376" y="2391147"/>
            <a:ext cx="5408227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Future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8460" y="1928648"/>
            <a:ext cx="10789791" cy="675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Enhance UI/UX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Add reporting module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Integrate email notifications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Implement user authentication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Integrate bill and subscription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management using unique bill 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and payment ID</a:t>
            </a:r>
          </a:p>
          <a:p>
            <a:pPr algn="l">
              <a:lnSpc>
                <a:spcPts val="5365"/>
              </a:lnSpc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– Integrate platform specific </a:t>
            </a:r>
          </a:p>
          <a:p>
            <a:pPr algn="l">
              <a:lnSpc>
                <a:spcPts val="5365"/>
              </a:lnSpc>
              <a:spcBef>
                <a:spcPct val="0"/>
              </a:spcBef>
            </a:pPr>
            <a:r>
              <a:rPr lang="en-US" sz="357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 connections and data transfer</a:t>
            </a:r>
          </a:p>
          <a:p>
            <a:pPr algn="l">
              <a:lnSpc>
                <a:spcPts val="5427"/>
              </a:lnSpc>
              <a:spcBef>
                <a:spcPct val="0"/>
              </a:spcBef>
            </a:pPr>
            <a:endParaRPr lang="en-US" sz="357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64" y="4403474"/>
            <a:ext cx="8762872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Time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89968" y="3228223"/>
            <a:ext cx="4108065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Demo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r="-2479" b="-184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91511" y="-891511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99650" y="3188938"/>
            <a:ext cx="13102912" cy="243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0"/>
              </a:lnSpc>
              <a:spcBef>
                <a:spcPct val="0"/>
              </a:spcBef>
            </a:pPr>
            <a:r>
              <a:rPr lang="en-US" sz="14214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15691514" y="6933276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302</Words>
  <Application>Microsoft Office PowerPoint</Application>
  <PresentationFormat>Custom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Garet</vt:lpstr>
      <vt:lpstr>Poppins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SUBTRACK</dc:title>
  <cp:lastModifiedBy>asus</cp:lastModifiedBy>
  <cp:revision>2</cp:revision>
  <dcterms:created xsi:type="dcterms:W3CDTF">2006-08-16T00:00:00Z</dcterms:created>
  <dcterms:modified xsi:type="dcterms:W3CDTF">2025-05-04T20:13:43Z</dcterms:modified>
  <dc:identifier>DAGmgaBS34I</dc:identifier>
</cp:coreProperties>
</file>